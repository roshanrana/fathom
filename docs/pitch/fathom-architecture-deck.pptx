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4213D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4213D"/>
                </a:solidFill>
                <a:latin typeface="Arial"/>
              </a:rPr>
              <a:t>Ratios (1.0 = target met)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4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Parser coverage</c:v>
                  </c:pt>
                  <c:pt idx="1">
                    <c:v>Offline verified share</c:v>
                  </c:pt>
                  <c:pt idx="2">
                    <c:v>Retrieval hit-rate</c:v>
                  </c:pt>
                  <c:pt idx="3">
                    <c:v>Injection test</c:v>
                  </c:pt>
                  <c:pt idx="4">
                    <c:v>Coverage (÷100)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0.7786</c:v>
                </c:pt>
                <c:pt idx="3">
                  <c:v>1</c:v>
                </c:pt>
                <c:pt idx="4">
                  <c:v>0.9582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B2A4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2A4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b"/>
        <c:majorGridlines>
          <c:spPr>
            <a:ln w="6350" cap="flat">
              <a:solidFill>
                <a:srgbClr val="C9D3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A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34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Fathom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57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Architecture Review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stock briefings grounded in SEC filings — quote, filings, verified-citation AI briefing, grounded Q&amp;A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Perficient AI Prototype Challenge · Finance scenario · Release 0.2.0 · 12 September 2026 · Roshan Rana, AI Systems Architect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498080" y="1097280"/>
            <a:ext cx="1005840" cy="10058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0" y="1097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Fathom · AI Systems Architecture Review · 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2971800"/>
          </a:xfrm>
          <a:prstGeom prst="roundRect">
            <a:avLst>
              <a:gd name="adj" fmla="val 2069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is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6916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one-page briefing for a wealth-management advisor: current quote with context, the latest 10-K and 10-Qs with EDGAR links, an AI briefing in six sections, and follow-up Q&amp;A.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claim carries a verbatim quote that the application re-checks against the filing before it is shown.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51760" cy="2971800"/>
          </a:xfrm>
          <a:prstGeom prst="roundRect">
            <a:avLst>
              <a:gd name="adj" fmla="val 2069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proves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6916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generation can be made auditable: claims are verified, advice language is blocked, and every model call leaves a hash-only audit record.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pipeline runs on 20 curated tickers (fixtures) or on any US-listed ticker from free, keyless sources.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651760" cy="2971800"/>
          </a:xfrm>
          <a:prstGeom prst="roundRect">
            <a:avLst>
              <a:gd name="adj" fmla="val 2069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7220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is enterprise-ready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16916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through a gated, evidence-producing lifecycle: 25 task packs, 25 independent verifications, 14 security reviews, 43 hash-chained ledger entries, CI gate on every push.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trust boundaries, a threat model, a runbook, an ORR and a change record.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of the audience: agree the pilot scope (full EDGAR universe, SSO, tamper-evident audit, advisor eval set) and the data-source policy for live quotes.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and the users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Fathom · AI Systems Architecture Review · 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1600200"/>
          </a:xfrm>
          <a:prstGeom prst="roundRect">
            <a:avLst>
              <a:gd name="adj" fmla="val 3429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435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advisor's problem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99616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 calls about a name the advisor does not follow. Getting current takes 30–60 minutes across a quote screen and two or three SEC filings. A general-purpose chatbot is faster but cannot be quoted to a client: it paraphrases, it may recommend, and it leaves no record.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1600200"/>
          </a:xfrm>
          <a:prstGeom prst="roundRect">
            <a:avLst>
              <a:gd name="adj" fmla="val 3429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2435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firm's constraints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499616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management is a supervised activity. Anything the tool says may be repeated to a client, so it must describe and never advise, cite sources an advisor can open, and keep a record of what the AI produced from which inputs.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718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93776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Advisor (primary)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page per ticker: quote context, recent filings, cited briefing, follow-up questions; no advice language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Several times a 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/ supervision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trail: what was produced, from which filings, by which model; evidence the guards work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 platform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on the firm's AI gateway; no keys in code; offline fallback; one command to validate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/ operate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 and AI assistants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same capabilities over HTTP and MCP with identical contracts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hoc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at a glance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Fathom · AI Systems Architecture Review · 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965960" cy="1965960"/>
          </a:xfrm>
          <a:prstGeom prst="roundRect">
            <a:avLst>
              <a:gd name="adj" fmla="val 2791"/>
            </a:avLst>
          </a:prstGeom>
          <a:solidFill>
            <a:srgbClr val="1C2B4F"/>
          </a:solidFill>
          <a:ln w="9525">
            <a:solidFill>
              <a:srgbClr val="1C2B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371600"/>
            <a:ext cx="365760" cy="3657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38988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 in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82880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card: last close, change, 52-week range, market cap, P/E, dividend yield — every figure stamped with its as-of date and source.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23160" y="2194560"/>
            <a:ext cx="137160" cy="9144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60320" y="1234440"/>
            <a:ext cx="1965960" cy="1965960"/>
          </a:xfrm>
          <a:prstGeom prst="roundRect">
            <a:avLst>
              <a:gd name="adj" fmla="val 2791"/>
            </a:avLst>
          </a:prstGeom>
          <a:solidFill>
            <a:srgbClr val="1C2B4F"/>
          </a:solidFill>
          <a:ln w="9525">
            <a:solidFill>
              <a:srgbClr val="1C2B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97480" y="1371600"/>
            <a:ext cx="365760" cy="3657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9748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154680" y="138988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Filings in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182880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10-K and 10-Qs, parsed into SEC items (Business, Risk Factors, MD&amp;A, Legal Proceedings, Cybersecurity, Controls) with EDGAR links.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26280" y="2194560"/>
            <a:ext cx="137160" cy="9144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663440" y="1234440"/>
            <a:ext cx="1965960" cy="1965960"/>
          </a:xfrm>
          <a:prstGeom prst="roundRect">
            <a:avLst>
              <a:gd name="adj" fmla="val 2791"/>
            </a:avLst>
          </a:prstGeom>
          <a:solidFill>
            <a:srgbClr val="1C2B4F"/>
          </a:solidFill>
          <a:ln w="9525">
            <a:solidFill>
              <a:srgbClr val="1C2B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1371600"/>
            <a:ext cx="365760" cy="3657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0060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257800" y="138988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182880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receives capped section excerpts and must return JSON claims, each with a verbatim quote and section id.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29400" y="2194560"/>
            <a:ext cx="137160" cy="9144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766560" y="1234440"/>
            <a:ext cx="1965960" cy="1965960"/>
          </a:xfrm>
          <a:prstGeom prst="roundRect">
            <a:avLst>
              <a:gd name="adj" fmla="val 2791"/>
            </a:avLst>
          </a:prstGeom>
          <a:solidFill>
            <a:srgbClr val="1C2B4F"/>
          </a:solidFill>
          <a:ln w="9525">
            <a:solidFill>
              <a:srgbClr val="1C2B4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03720" y="1371600"/>
            <a:ext cx="365760" cy="3657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0372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360920" y="138988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and guard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182880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checks each quote against the filing, blocks recommendation language, audits the call, and renders badges.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29000"/>
            <a:ext cx="4023360" cy="1188720"/>
          </a:xfrm>
          <a:prstGeom prst="roundRect">
            <a:avLst>
              <a:gd name="adj" fmla="val 461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4838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3739896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advisor page · Typer CLI · FastAPI (JSON envelope) · MCP server (four tools). All four call the same package functions; none computes anything itself.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3429000"/>
            <a:ext cx="4023360" cy="1188720"/>
          </a:xfrm>
          <a:prstGeom prst="roundRect">
            <a:avLst>
              <a:gd name="adj" fmla="val 461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754880" y="34838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data modes, one schema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754880" y="3739896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Fixtures: 20 large caps, 97 filings, committed. Live: any US-listed ticker from SEC EDGAR + Yahoo/Stooq, materialized per ticker into the same four tables. Switch with one environment variable.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C4 LEVEL 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context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Fathom · AI Systems Architecture Review · 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463040" cy="640080"/>
          </a:xfrm>
          <a:prstGeom prst="roundRect">
            <a:avLst>
              <a:gd name="adj" fmla="val 8571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435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996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920240" y="1508760"/>
            <a:ext cx="594360" cy="1097280"/>
          </a:xfrm>
          <a:prstGeom prst="line">
            <a:avLst/>
          </a:prstGeom>
          <a:noFill/>
          <a:ln w="1270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" y="1965960"/>
            <a:ext cx="1463040" cy="640080"/>
          </a:xfrm>
          <a:prstGeom prst="roundRect">
            <a:avLst>
              <a:gd name="adj" fmla="val 8571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0208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2768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920240" y="2286000"/>
            <a:ext cx="594360" cy="320040"/>
          </a:xfrm>
          <a:prstGeom prst="line">
            <a:avLst/>
          </a:prstGeom>
          <a:noFill/>
          <a:ln w="1270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" y="2743200"/>
            <a:ext cx="1463040" cy="640080"/>
          </a:xfrm>
          <a:prstGeom prst="roundRect">
            <a:avLst>
              <a:gd name="adj" fmla="val 8571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7980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0540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 flipV="1">
            <a:off x="1920240" y="2606040"/>
            <a:ext cx="594360" cy="457200"/>
          </a:xfrm>
          <a:prstGeom prst="line">
            <a:avLst/>
          </a:prstGeom>
          <a:noFill/>
          <a:ln w="1270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57200" y="3520440"/>
            <a:ext cx="1463040" cy="640080"/>
          </a:xfrm>
          <a:prstGeom prst="roundRect">
            <a:avLst>
              <a:gd name="adj" fmla="val 8571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5753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8313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host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 flipV="1">
            <a:off x="1920240" y="2606040"/>
            <a:ext cx="594360" cy="1234440"/>
          </a:xfrm>
          <a:prstGeom prst="line">
            <a:avLst/>
          </a:prstGeom>
          <a:noFill/>
          <a:ln w="1270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560320" y="1188720"/>
            <a:ext cx="3108960" cy="3108960"/>
          </a:xfrm>
          <a:prstGeom prst="roundRect">
            <a:avLst>
              <a:gd name="adj" fmla="val 1765"/>
            </a:avLst>
          </a:prstGeom>
          <a:solidFill>
            <a:srgbClr val="EEF6F4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697480" y="1261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Fathom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697480" y="1600200"/>
            <a:ext cx="2834640" cy="6858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788920" y="16550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788920" y="191109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page · CLI · FastAPI · MCP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697480" y="2377440"/>
            <a:ext cx="2834640" cy="91440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788920" y="24323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package `fathom`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2788920" y="268833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· filings parser · BM25 retrieval · briefing / ask pipelines · citation verifier · advice guard · audit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697480" y="3383280"/>
            <a:ext cx="2834640" cy="777240"/>
          </a:xfrm>
          <a:prstGeom prst="roundRect">
            <a:avLst>
              <a:gd name="adj" fmla="val 7059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788920" y="34381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2788920" y="36941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fixtures (parquet) or live cache materialized per ticker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309360" y="118872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0" y="12435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Portkey AI gateway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0" y="149961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AWS Bedrock · Claude Sonnet 4.5 (client-operated; key at runtime)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309360" y="201168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0" y="20665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EDGAR (official, free)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0" y="232257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 · primary documents · XBRL company facts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309360" y="283464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00800" y="28895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 / Stooq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314553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bars (unofficial, keyless; fallback chain)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309360" y="365760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00800" y="37124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(JSONL)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6400800" y="39684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hashes, counts, model, latency — never bodies by default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 flipV="1">
            <a:off x="5669280" y="1527048"/>
            <a:ext cx="640080" cy="1216152"/>
          </a:xfrm>
          <a:prstGeom prst="line">
            <a:avLst/>
          </a:prstGeom>
          <a:noFill/>
          <a:ln w="1270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V="1">
            <a:off x="5669280" y="2350008"/>
            <a:ext cx="640080" cy="484632"/>
          </a:xfrm>
          <a:prstGeom prst="line">
            <a:avLst/>
          </a:prstGeom>
          <a:noFill/>
          <a:ln w="1270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5669280" y="2926080"/>
            <a:ext cx="640080" cy="246888"/>
          </a:xfrm>
          <a:prstGeom prst="line">
            <a:avLst/>
          </a:prstGeom>
          <a:noFill/>
          <a:ln w="1270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5669280" y="3017520"/>
            <a:ext cx="640080" cy="960120"/>
          </a:xfrm>
          <a:prstGeom prst="line">
            <a:avLst/>
          </a:prstGeom>
          <a:noFill/>
          <a:ln w="1270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Build-time only: Hugging Face datasets → fixtures via scripts/fetch_data.py. Live sources are called only when FATHOM_DATA_SOURCE=live; the gate and CI never touch the network.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C4 LEVEL 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 architecture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Fathom · AI Systems Architecture Review · 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65960" cy="3246120"/>
          </a:xfrm>
          <a:prstGeom prst="roundRect">
            <a:avLst>
              <a:gd name="adj" fmla="val 2791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43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(render only)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16002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app/main.py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18013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page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640" y="2139696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216712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cli.py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236829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Typer commands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8640" y="2706624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273405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api.py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293522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JSON envelope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30098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mcp_server.py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35021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MCP tools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606040" y="1188720"/>
            <a:ext cx="1965960" cy="3246120"/>
          </a:xfrm>
          <a:prstGeom prst="roundRect">
            <a:avLst>
              <a:gd name="adj" fmla="val 2791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697480" y="1243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697480" y="1572768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770632" y="16002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briefing.py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2770632" y="18013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→ draft → claims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697480" y="2139696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770632" y="216712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ask.py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2770632" y="236829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→ retrieve → answer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697480" y="2706624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770632" y="273405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contracts.py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2770632" y="293522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pydantic models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697480" y="3273552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770632" y="330098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guard.py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2770632" y="35021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regexes · verifier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697480" y="3840480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770632" y="38679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audit.py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2770632" y="40690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JSONL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754880" y="1188720"/>
            <a:ext cx="1965960" cy="3246120"/>
          </a:xfrm>
          <a:prstGeom prst="roundRect">
            <a:avLst>
              <a:gd name="adj" fmla="val 2791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846320" y="1243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46320" y="1572768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919472" y="16002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data.py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4919472" y="18013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loaders, ticker check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846320" y="2139696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919472" y="216712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quotes.py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4919472" y="236829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QuoteCard maths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846320" y="2706624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919472" y="273405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filings.py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4919472" y="293522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item parser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846320" y="3273552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919472" y="330098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retrieval.py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4919472" y="35021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(title-boosted)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846320" y="3840480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919472" y="38679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live/*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4919472" y="40690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· prices · facts · build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903720" y="1188720"/>
            <a:ext cx="1965960" cy="3246120"/>
          </a:xfrm>
          <a:prstGeom prst="roundRect">
            <a:avLst>
              <a:gd name="adj" fmla="val 2791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995160" y="1243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995160" y="1572768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068312" y="16002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providers.py</a:t>
            </a:r>
            <a:endParaRPr lang="en-US" sz="850" dirty="0"/>
          </a:p>
        </p:txBody>
      </p:sp>
      <p:sp>
        <p:nvSpPr>
          <p:cNvPr id="57" name="Text 55"/>
          <p:cNvSpPr txBox="1"/>
          <p:nvPr/>
        </p:nvSpPr>
        <p:spPr>
          <a:xfrm>
            <a:off x="7068312" y="18013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protocol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995160" y="2139696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068312" y="216712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Offline</a:t>
            </a:r>
            <a:endParaRPr lang="en-US" sz="850" dirty="0"/>
          </a:p>
        </p:txBody>
      </p:sp>
      <p:sp>
        <p:nvSpPr>
          <p:cNvPr id="60" name="Text 58"/>
          <p:cNvSpPr txBox="1"/>
          <p:nvPr/>
        </p:nvSpPr>
        <p:spPr>
          <a:xfrm>
            <a:off x="7068312" y="236829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extractive, default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995160" y="2706624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068312" y="273405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Portkey</a:t>
            </a:r>
            <a:endParaRPr lang="en-US" sz="850" dirty="0"/>
          </a:p>
        </p:txBody>
      </p:sp>
      <p:sp>
        <p:nvSpPr>
          <p:cNvPr id="63" name="Text 61"/>
          <p:cNvSpPr txBox="1"/>
          <p:nvPr/>
        </p:nvSpPr>
        <p:spPr>
          <a:xfrm>
            <a:off x="7068312" y="293522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995160" y="3273552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068312" y="330098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</a:t>
            </a:r>
            <a:endParaRPr lang="en-US" sz="850" dirty="0"/>
          </a:p>
        </p:txBody>
      </p:sp>
      <p:sp>
        <p:nvSpPr>
          <p:cNvPr id="66" name="Text 64"/>
          <p:cNvSpPr txBox="1"/>
          <p:nvPr/>
        </p:nvSpPr>
        <p:spPr>
          <a:xfrm>
            <a:off x="7068312" y="35021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API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995160" y="3840480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068312" y="38679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prompts.py</a:t>
            </a:r>
            <a:endParaRPr lang="en-US" sz="850" dirty="0"/>
          </a:p>
        </p:txBody>
      </p:sp>
      <p:sp>
        <p:nvSpPr>
          <p:cNvPr id="69" name="Text 67"/>
          <p:cNvSpPr txBox="1"/>
          <p:nvPr/>
        </p:nvSpPr>
        <p:spPr>
          <a:xfrm>
            <a:off x="7068312" y="40690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prompt text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2423160" y="2834640"/>
            <a:ext cx="182880" cy="9144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4572000" y="2834640"/>
            <a:ext cx="182880" cy="9144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6720840" y="2834640"/>
            <a:ext cx="182880" cy="9144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73" name="Text 71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direction is left to right only. Surfaces never import pandas or regex; providers never see settings beyond their own keys; the data layer knows nothing about models.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CRITICAL FLOW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briefing pipeline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Fathom · AI Systems Architecture Review · 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533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Context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459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10-K + two newest 10-Qs; canonical sections capped (≈27k tokens)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423160" y="1892808"/>
            <a:ext cx="137160" cy="9144"/>
          </a:xfrm>
          <a:prstGeom prst="line">
            <a:avLst/>
          </a:prstGeom>
          <a:noFill/>
          <a:ln w="15875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60320" y="128016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51760" y="13533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Prompt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16459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system prompt: excerpts are data; verbatim 6–40 word quotes; no advice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26280" y="1892808"/>
            <a:ext cx="137160" cy="9144"/>
          </a:xfrm>
          <a:prstGeom prst="line">
            <a:avLst/>
          </a:prstGeom>
          <a:noFill/>
          <a:ln w="15875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663440" y="128016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54880" y="13533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Provider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16459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extractive | Portkey → Claude | Anthropic; one JSON contract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629400" y="1892808"/>
            <a:ext cx="137160" cy="9144"/>
          </a:xfrm>
          <a:prstGeom prst="line">
            <a:avLst/>
          </a:prstGeom>
          <a:noFill/>
          <a:ln w="15875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766560" y="128016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0" y="13533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Draft → claims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16459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parsed; one repair retry; text/quote length clamps; never raises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283464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EEF6F4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9077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Verify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2004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normalised and matched inside the cited section → verified / unverified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423160" y="3447288"/>
            <a:ext cx="137160" cy="9144"/>
          </a:xfrm>
          <a:prstGeom prst="line">
            <a:avLst/>
          </a:prstGeom>
          <a:noFill/>
          <a:ln w="15875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560320" y="283464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EEF6F4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651760" y="29077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Guard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2651760" y="32004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recommendation patterns; flagged claims replaced by a fixed notice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26280" y="3447288"/>
            <a:ext cx="137160" cy="9144"/>
          </a:xfrm>
          <a:prstGeom prst="line">
            <a:avLst/>
          </a:prstGeom>
          <a:noFill/>
          <a:ln w="15875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663440" y="283464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EEF6F4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54880" y="29077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Audit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754880" y="32004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sha256 of prompt and response, model, latency, counts, guard hits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629400" y="3447288"/>
            <a:ext cx="137160" cy="9144"/>
          </a:xfrm>
          <a:prstGeom prst="line">
            <a:avLst/>
          </a:prstGeom>
          <a:noFill/>
          <a:ln w="15875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766560" y="283464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EEF6F4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0" y="29077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Render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0" y="32004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sections, badge text, source captions, disclaimer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229600" y="2514600"/>
            <a:ext cx="9144" cy="320040"/>
          </a:xfrm>
          <a:prstGeom prst="line">
            <a:avLst/>
          </a:prstGeom>
          <a:noFill/>
          <a:ln w="15875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paths are first-class: invalid JSON → one repair → CONTRACT_INVALID; gateway down → PROVIDER_HTTP with a reason and no body; unverifiable quote → shown and flagged, never hidden.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· GROUNDING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Verify, don't trust: the claim contract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Fathom · AI Systems Architecture Review · 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206240" cy="3246120"/>
          </a:xfrm>
          <a:prstGeom prst="roundRect">
            <a:avLst>
              <a:gd name="adj" fmla="val 1690"/>
            </a:avLst>
          </a:prstGeom>
          <a:solidFill>
            <a:srgbClr val="1C2B4F"/>
          </a:solidFill>
          <a:ln w="9525">
            <a:solidFill>
              <a:srgbClr val="1C2B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261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must return (one claim)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572768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"text": "Net sales increased 5% year over year",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"accession": "0000320193-26-000013",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"section_id": "10-Q:I.2",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"quote": "Total net sales increased 5% or $4.5 billion during the second quarter of 2026"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063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application does with it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364992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whitespace, case and quote glyphs on both sides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6–60 words and a substring match inside the cited section's full text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verified = true/false; scrub advice language; count; audit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937760" y="1188720"/>
            <a:ext cx="3749040" cy="566928"/>
          </a:xfrm>
          <a:prstGeom prst="roundRect">
            <a:avLst>
              <a:gd name="adj" fmla="val 967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74920" y="1234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verified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1234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found in the cited section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937760" y="1874520"/>
            <a:ext cx="3749040" cy="566928"/>
          </a:xfrm>
          <a:prstGeom prst="roundRect">
            <a:avLst>
              <a:gd name="adj" fmla="val 967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74920" y="1920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unverified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1920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shown, flagged, counted — never hidden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37760" y="2560320"/>
            <a:ext cx="3749040" cy="566928"/>
          </a:xfrm>
          <a:prstGeom prst="roundRect">
            <a:avLst>
              <a:gd name="adj" fmla="val 967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74920" y="2606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removed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606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recommendation-style language replaced by a fixed notice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37760" y="3291840"/>
            <a:ext cx="3749040" cy="1143000"/>
          </a:xfrm>
          <a:prstGeom prst="roundRect">
            <a:avLst>
              <a:gd name="adj" fmla="val 48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0" y="33467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to compliance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3602736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badge is the control, and the eval suite reports the verified share as a headline KPI. Offline mode is verified by construction (its quotes are the sentences themselves), so it proves the plumbing; live-mode quality is measured from the audit log, not asserted.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DATA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architecture: two sources, one schema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Fathom · AI Systems Architecture Review · 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1600200"/>
          </a:xfrm>
          <a:prstGeom prst="roundRect">
            <a:avLst>
              <a:gd name="adj" fmla="val 3429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435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 mode (default)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99616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large caps · 97 filings (Apr 2025 – May 2026) · daily bars to 2026-09-11 · quote snapshot · company master. Rebuilt by scripts/fetch_data.py from four Hugging Face datasets; ≈12 MB committed with licences and hand-checkable anchors.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2651760" cy="1508760"/>
          </a:xfrm>
          <a:prstGeom prst="roundRect">
            <a:avLst>
              <a:gd name="adj" fmla="val 3636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9809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mode (opt-in)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36976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US-listed ticker. SEC EDGAR for filings and XBRL facts; Yahoo chart bars with Stooq fallback. Materialized per ticker into .cache/live/&lt;T&gt;/ with a manifest; 6-hour TTL; `fathom fetch --force` refreshes.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08960" y="1965960"/>
            <a:ext cx="640080" cy="685800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V="1">
            <a:off x="3108960" y="2926080"/>
            <a:ext cx="640080" cy="731520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749040" y="2148840"/>
            <a:ext cx="2011680" cy="1280160"/>
          </a:xfrm>
          <a:prstGeom prst="roundRect">
            <a:avLst>
              <a:gd name="adj" fmla="val 4286"/>
            </a:avLst>
          </a:prstGeom>
          <a:solidFill>
            <a:srgbClr val="EEF6F4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40480" y="2212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tables, one schema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25146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filings.parquet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bars.parquet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quotes.parquet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companies.parquet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760720" y="2788920"/>
            <a:ext cx="594360" cy="9144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355080" y="1188720"/>
            <a:ext cx="2331720" cy="3246120"/>
          </a:xfrm>
          <a:prstGeom prst="roundRect">
            <a:avLst>
              <a:gd name="adj" fmla="val 2353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124358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is unchanged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1499616"/>
            <a:ext cx="21488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 item parser (TOC-dropping, cross-reference fallback)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BM25 index over items and chunks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briefing and Q&amp;A pipelines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citation verifier and guard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surface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pipeline is a data producer, not a new code path: the smallest correct change, and the one already covered by 400+ contract tests.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rule: `data_dir_for(ticker, settings)` is the only routing decision; the ticker is shape-validated before any path or URL is built.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LIVE MODE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data pipeline (free, no API keys)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Fathom · AI Systems Architecture Review · 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377440" cy="566928"/>
          </a:xfrm>
          <a:prstGeom prst="roundRect">
            <a:avLst>
              <a:gd name="adj" fmla="val 967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435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ticker map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996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company_tickers.json → CIK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2377440" cy="566928"/>
          </a:xfrm>
          <a:prstGeom prst="roundRect">
            <a:avLst>
              <a:gd name="adj" fmla="val 967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9019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submissions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1579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10-K/10-Q, 24 months, ≤5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2505456"/>
            <a:ext cx="2377440" cy="566928"/>
          </a:xfrm>
          <a:prstGeom prst="roundRect">
            <a:avLst>
              <a:gd name="adj" fmla="val 967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560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primary documents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8163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iXBRL HTML → text (stdlib)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3163824"/>
            <a:ext cx="2377440" cy="566928"/>
          </a:xfrm>
          <a:prstGeom prst="roundRect">
            <a:avLst>
              <a:gd name="adj" fmla="val 967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2186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XBRL facts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4747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shares, EPS TTM, equity, DPS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3822192"/>
            <a:ext cx="2377440" cy="566928"/>
          </a:xfrm>
          <a:prstGeom prst="roundRect">
            <a:avLst>
              <a:gd name="adj" fmla="val 967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8770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chart → Stooq CSV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1330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years of daily bars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0" y="1188720"/>
            <a:ext cx="2377440" cy="3246120"/>
          </a:xfrm>
          <a:prstGeom prst="roundRect">
            <a:avLst>
              <a:gd name="adj" fmla="val 2308"/>
            </a:avLst>
          </a:prstGeom>
          <a:solidFill>
            <a:srgbClr val="EEF6F4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91840" y="12435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LiveHttp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291840" y="1554480"/>
            <a:ext cx="2194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User-Agent with operator contact (SEC fair-access policy)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per-host throttle ≥ 0.12 s (≤ 8 req/s vs SEC's 10)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on-disk cache keyed by URL hash; TTLs per call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MB streamed size cap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failure → SOURCE_HTTP with a reason, never a body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834640" y="1472184"/>
            <a:ext cx="365760" cy="9144"/>
          </a:xfrm>
          <a:prstGeom prst="line">
            <a:avLst/>
          </a:prstGeom>
          <a:noFill/>
          <a:ln w="1270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834640" y="2130552"/>
            <a:ext cx="365760" cy="9144"/>
          </a:xfrm>
          <a:prstGeom prst="line">
            <a:avLst/>
          </a:prstGeom>
          <a:noFill/>
          <a:ln w="1270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834640" y="2788920"/>
            <a:ext cx="365760" cy="9144"/>
          </a:xfrm>
          <a:prstGeom prst="line">
            <a:avLst/>
          </a:prstGeom>
          <a:noFill/>
          <a:ln w="1270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834640" y="3447288"/>
            <a:ext cx="365760" cy="9144"/>
          </a:xfrm>
          <a:prstGeom prst="line">
            <a:avLst/>
          </a:prstGeom>
          <a:noFill/>
          <a:ln w="1270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834640" y="4105656"/>
            <a:ext cx="365760" cy="9144"/>
          </a:xfrm>
          <a:prstGeom prst="line">
            <a:avLst/>
          </a:prstGeom>
          <a:noFill/>
          <a:ln w="1270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577840" y="2807208"/>
            <a:ext cx="365760" cy="9144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943600" y="1188720"/>
            <a:ext cx="2743200" cy="1417320"/>
          </a:xfrm>
          <a:prstGeom prst="roundRect">
            <a:avLst>
              <a:gd name="adj" fmla="val 3871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035040" y="12435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materialize(ticker)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035040" y="1499616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accessors on every payload field → same four tables + manifest.json (fetched_at, accessions, section coverage, sources). Cold fetch measured at 2–3 s per ticker.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943600" y="2743200"/>
            <a:ext cx="2743200" cy="1691640"/>
          </a:xfrm>
          <a:prstGeom prst="roundRect">
            <a:avLst>
              <a:gd name="adj" fmla="val 3243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035040" y="27980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from XBRL facts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035040" y="3054096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 = last close × shares outstanding; P/E = close / EPS TTM (four latest quarterly frames); P/B = market cap / equity; yield = DPS TTM / close. Labelled as derived; None when a fact is missing.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offline with recorded fixtures and structural fuzzing; a network smoke test is opt-in (FATHOM_NETWORK_TESTS=1).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choices and why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Fathom · AI Systems Architecture Review · 11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Alternatives considered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this one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Verifiable claim contract (D-003)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Free-text summary; summary with section references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briefing an advisor may repeat must be checkable; the badge becomes the control and the KPI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Lexical BM25 over SEC items, no vector DB (D-004)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 + FAISS/Chroma; rank_bm25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Five documents per ticker already structured into items; explainable to compliance; deterministic in CI; one function to swap later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provider is a real provider (D-005)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in the pipeline between extractive and LLM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code path from prompt to verified claims; demo, CI and bench never need a key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httpx, no vendor SDKs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/ Anthropic / Portkey SDKs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verifier and error taxonomy are the product; three small clients are easier to audit than three SDK surfaces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mode materializes the fixture schema (D-013)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DataSource protocol refactor; keyed vendor APIs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Parser, retrieval, briefing and guard stay untouched and contract-tested; no keys, SEC is official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Typed payload accessors + structural fuzz (D-014)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Enumerated exception guards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 security rounds showed enumerated guards leak; typed accessors and node-mutation fuzz closed the class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+ Typer + FastAPI + MCP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front end; n8n canvas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functionality over polish; every surface is a thin renderer over one package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features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Fathom · AI Systems Architecture Review · 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435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card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9961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close and change, 52-week range, market cap, P/E, dividend yield, one-year chart; each with an as-of stamp and source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37560" y="12435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Filings table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149961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10-K and 10-Qs with fiscal period, accession and a link to the EDGAR index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12435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briefing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149961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sections: business snapshot, latest results, risks, liquidity and capital, notable disclosures, talking points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28600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3408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Q&amp;A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59689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question → BM25 over items and chunks → cited answer; "not found" when the filings do not cover it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46120" y="228600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37560" y="23408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guard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337560" y="259689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and output patterns for buy/sell/hold, price targets, over/underweight, valuation calls; fixed notice on hit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35040" y="228600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26480" y="23408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259689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JSON line per call: hashes, model, latency, tokens, claim counts, guard hits; bodies only when opted in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338328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4381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surfaces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69417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page, CLI (brief/ask/quote/filings/fetch/probe/bench), HTTP API with a JSON envelope, MCP tools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46120" y="338328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337560" y="34381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mode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337560" y="369417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US-listed ticker from SEC EDGAR + Yahoo/Stooq; `fathom fetch`; cache and TTL; same contracts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035040" y="338328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26480" y="34381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bench in the gate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126480" y="369417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coverage, retrieval hit-rate, guard escapes, verified share, injection test → metrics card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· FIXTURE MODE (APPLE INC.)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advisor page: quote card, chart and filings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Fathom · AI Systems Architecture Review · 13</a:t>
            </a:r>
            <a:endParaRPr lang="en-US" sz="800" dirty="0"/>
          </a:p>
        </p:txBody>
      </p:sp>
      <p:pic>
        <p:nvPicPr>
          <p:cNvPr id="5" name="Image 0" descr="C:/Code-Central/fathom/docs/assets/00-full-page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4623" y="1143000"/>
            <a:ext cx="3754755" cy="3337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fixture mode. Six metrics with a single source caption; the one-year close series; the filings table links to the EDGAR index for each accession.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· FIXTURE MODE (APPLE INC.)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briefing: every claim cited, every badge earned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Fathom · AI Systems Architecture Review · 14</a:t>
            </a:r>
            <a:endParaRPr lang="en-US" sz="800" dirty="0"/>
          </a:p>
        </p:txBody>
      </p:sp>
      <p:pic>
        <p:nvPicPr>
          <p:cNvPr id="5" name="Image 0" descr="C:/Code-Central/fathom/docs/assets/03-briefing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015" y="1143000"/>
            <a:ext cx="4578970" cy="3337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40680" y="114300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532120" y="119786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are looking at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532120" y="1453896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extractive provider: sentences lifted verbatim from the cited sections, so every badge is ✅ verified by construction. Each claim carries a caption with form, filing date, section title and accession.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40680" y="2834640"/>
            <a:ext cx="3246120" cy="1645920"/>
          </a:xfrm>
          <a:prstGeom prst="roundRect">
            <a:avLst>
              <a:gd name="adj" fmla="val 3333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532120" y="288950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live LLM mode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532120" y="3145536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4.5 via Portkey writes the claim text and must copy a 6–40 word quote; paraphrased quotes surface as ⚠️ unverified. The status strip shows provider, model, claim counts and verified counts for the session.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· FIXTURE MODE (APPLE INC.)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Q&amp;A and the advice guard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Fathom · AI Systems Architecture Review · 15</a:t>
            </a:r>
            <a:endParaRPr lang="en-US" sz="800" dirty="0"/>
          </a:p>
        </p:txBody>
      </p:sp>
      <p:pic>
        <p:nvPicPr>
          <p:cNvPr id="5" name="Image 0" descr="C:/Code-Central/fathom/docs/assets/04-ask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4941" y="1143000"/>
            <a:ext cx="4034118" cy="2377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3657600"/>
            <a:ext cx="4023360" cy="868680"/>
          </a:xfrm>
          <a:prstGeom prst="roundRect">
            <a:avLst>
              <a:gd name="adj" fmla="val 6316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37124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96849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are the main risk factors?" → the top-ranked chunks, answered with verified quotes from Risk Factors.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663440" y="3657600"/>
            <a:ext cx="4023360" cy="868680"/>
          </a:xfrm>
          <a:prstGeom prst="roundRect">
            <a:avLst>
              <a:gd name="adj" fmla="val 6316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754880" y="37124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Guarded questions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754880" y="396849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"Should I buy Apple stock?" never reaches the model: the input guard returns the fixed notice and the call is audited with provider = guard.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· LIVE MODE (NETFLIX)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mode: a ticker outside the demo set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Fathom · AI Systems Architecture Review · 16</a:t>
            </a:r>
            <a:endParaRPr lang="en-US" sz="800" dirty="0"/>
          </a:p>
        </p:txBody>
      </p:sp>
      <p:pic>
        <p:nvPicPr>
          <p:cNvPr id="5" name="Image 0" descr="C:/Code-Central/fathom/docs/assets/05-live-nflx-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4153" y="1143000"/>
            <a:ext cx="3043855" cy="3337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577840" y="1143000"/>
            <a:ext cx="3108960" cy="1600200"/>
          </a:xfrm>
          <a:prstGeom prst="roundRect">
            <a:avLst>
              <a:gd name="adj" fmla="val 3429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0" y="119786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669280" y="1453896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switched to Live; ticker typed; Fetch. In about two seconds Fathom pulled five filings from SEC EDGAR, two years of Yahoo bars and four XBRL facts, and wrote the four tables plus a manifest.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577840" y="2880360"/>
            <a:ext cx="3108960" cy="1600200"/>
          </a:xfrm>
          <a:prstGeom prst="roundRect">
            <a:avLst>
              <a:gd name="adj" fmla="val 3429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0" y="29352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sources line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669280" y="3191256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"Prices: yahoo via .cache/live/NFLX/bars.parquet as of 2026-09-11 · Snapshot: SEC XBRL companyconcept … × yahoo close" — provenance is on the page, not in a footnote.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· LIVE MODE (NETFLIX)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mode: briefing and answer on fresh filings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Fathom · AI Systems Architecture Review · 17</a:t>
            </a:r>
            <a:endParaRPr lang="en-US" sz="800" dirty="0"/>
          </a:p>
        </p:txBody>
      </p:sp>
      <p:pic>
        <p:nvPicPr>
          <p:cNvPr id="5" name="Image 0" descr="C:/Code-Central/fathom/docs/assets/06-live-nflx-brief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114" y="1143000"/>
            <a:ext cx="3320971" cy="3291840"/>
          </a:xfrm>
          <a:prstGeom prst="rect">
            <a:avLst/>
          </a:prstGeom>
        </p:spPr>
      </p:pic>
      <p:pic>
        <p:nvPicPr>
          <p:cNvPr id="6" name="Image 1" descr="C:/Code-Central/fathom/docs/assets/07-live-nflx-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43000"/>
            <a:ext cx="3931920" cy="162105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754880" y="2926080"/>
            <a:ext cx="3931920" cy="1508760"/>
          </a:xfrm>
          <a:prstGeom prst="roundRect">
            <a:avLst>
              <a:gd name="adj" fmla="val 3636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846320" y="29809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reading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4846320" y="3236976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extractive provider on live text: the Risk Factors and Business sections read well; "Latest results" and "Liquidity" came back empty because Netflix's MD&amp;A opens with tables and boilerplate that the extractive heuristics skip. The live LLM path composes those sections; the extractive path is the no-key fallback.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READINESS · CONTROLS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and compliance controls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Fathom · AI Systems Architecture Review · 18</a:t>
            </a:r>
            <a:endParaRPr lang="en-US" sz="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011680"/>
                <a:gridCol w="329184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Boundary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in the code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 user input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advice elicitation, prompt override, free-text ticker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+ output guard; ticker shape check before any path/URL; API enum for source; question length bound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 tests, T-020 security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 AI gateway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leakage; malformed or spoofed responses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keys only from env by name; secrets scan in the gate; JSON contract with one repair; every httpx error mapped to a Fathom error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T-004/T-015 security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B3 filing text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injection embedded in filings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excerpts declared as data; injected instructions cannot become verified claims; FR-018 test in the bench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 injection KPI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B4 audit file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bodies, questions or keys in logs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hashes and counts only by default; never-log test with a capturing handler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T-005 security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B6 live sources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tampered or malformed payloads; rate limits; contact exposure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stdlib parsing; typed accessors; whole-body guards; streamed size cap; throttle; contact never committed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T-018 … T-024 security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risks are written down and owned: no authentication in the prototype (SSO in front for a pilot), local audit file not tamper-evident, unofficial price endpoints.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READINESS · PROCESS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was built: a gated, evidence-producing lifecycle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Fathom · AI Systems Architecture Review · 19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41248" cy="566928"/>
          </a:xfrm>
          <a:prstGeom prst="roundRect">
            <a:avLst>
              <a:gd name="adj" fmla="val 8065"/>
            </a:avLst>
          </a:prstGeom>
          <a:solidFill>
            <a:srgbClr val="1C2B4F"/>
          </a:solidFill>
          <a:ln w="12700">
            <a:solidFill>
              <a:srgbClr val="1C2B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93776" y="1252728"/>
            <a:ext cx="768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G0 brief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371600" y="1234440"/>
            <a:ext cx="841248" cy="566928"/>
          </a:xfrm>
          <a:prstGeom prst="roundRect">
            <a:avLst>
              <a:gd name="adj" fmla="val 8065"/>
            </a:avLst>
          </a:prstGeom>
          <a:solidFill>
            <a:srgbClr val="1C2B4F"/>
          </a:solidFill>
          <a:ln w="12700">
            <a:solidFill>
              <a:srgbClr val="1C2B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08176" y="1252728"/>
            <a:ext cx="768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reqs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286000" y="1234440"/>
            <a:ext cx="841248" cy="566928"/>
          </a:xfrm>
          <a:prstGeom prst="roundRect">
            <a:avLst>
              <a:gd name="adj" fmla="val 8065"/>
            </a:avLst>
          </a:prstGeom>
          <a:solidFill>
            <a:srgbClr val="1C2B4F"/>
          </a:solidFill>
          <a:ln w="12700">
            <a:solidFill>
              <a:srgbClr val="1C2B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22576" y="1252728"/>
            <a:ext cx="768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HLD + threat model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200400" y="1234440"/>
            <a:ext cx="841248" cy="566928"/>
          </a:xfrm>
          <a:prstGeom prst="roundRect">
            <a:avLst>
              <a:gd name="adj" fmla="val 8065"/>
            </a:avLst>
          </a:prstGeom>
          <a:solidFill>
            <a:srgbClr val="1C2B4F"/>
          </a:solidFill>
          <a:ln w="12700">
            <a:solidFill>
              <a:srgbClr val="1C2B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36976" y="1252728"/>
            <a:ext cx="768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 LLD (frozen contracts)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114800" y="1234440"/>
            <a:ext cx="841248" cy="566928"/>
          </a:xfrm>
          <a:prstGeom prst="roundRect">
            <a:avLst>
              <a:gd name="adj" fmla="val 8065"/>
            </a:avLst>
          </a:prstGeom>
          <a:solidFill>
            <a:srgbClr val="1C2B4F"/>
          </a:solidFill>
          <a:ln w="12700">
            <a:solidFill>
              <a:srgbClr val="1C2B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51376" y="1252728"/>
            <a:ext cx="768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 plan + packs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029200" y="1234440"/>
            <a:ext cx="841248" cy="566928"/>
          </a:xfrm>
          <a:prstGeom prst="roundRect">
            <a:avLst>
              <a:gd name="adj" fmla="val 8065"/>
            </a:avLst>
          </a:prstGeom>
          <a:solidFill>
            <a:srgbClr val="1E5C57"/>
          </a:solidFill>
          <a:ln w="12700">
            <a:solidFill>
              <a:srgbClr val="1E5C5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65776" y="1252728"/>
            <a:ext cx="768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 foundation + CI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943600" y="1234440"/>
            <a:ext cx="841248" cy="566928"/>
          </a:xfrm>
          <a:prstGeom prst="roundRect">
            <a:avLst>
              <a:gd name="adj" fmla="val 8065"/>
            </a:avLst>
          </a:prstGeom>
          <a:solidFill>
            <a:srgbClr val="1E5C57"/>
          </a:solidFill>
          <a:ln w="12700">
            <a:solidFill>
              <a:srgbClr val="1E5C5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80176" y="1252728"/>
            <a:ext cx="768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 build loop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858000" y="1234440"/>
            <a:ext cx="841248" cy="566928"/>
          </a:xfrm>
          <a:prstGeom prst="roundRect">
            <a:avLst>
              <a:gd name="adj" fmla="val 8065"/>
            </a:avLst>
          </a:prstGeom>
          <a:solidFill>
            <a:srgbClr val="1E5C57"/>
          </a:solidFill>
          <a:ln w="12700">
            <a:solidFill>
              <a:srgbClr val="1E5C5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94576" y="1252728"/>
            <a:ext cx="768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G7 assurance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772400" y="1234440"/>
            <a:ext cx="841248" cy="566928"/>
          </a:xfrm>
          <a:prstGeom prst="roundRect">
            <a:avLst>
              <a:gd name="adj" fmla="val 8065"/>
            </a:avLst>
          </a:prstGeom>
          <a:solidFill>
            <a:srgbClr val="1E5C57"/>
          </a:solidFill>
          <a:ln w="12700">
            <a:solidFill>
              <a:srgbClr val="1E5C5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08976" y="1252728"/>
            <a:ext cx="768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G8 release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201168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6928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2514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packs, each with acceptance criteria, scope, budget and risk class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60320" y="201168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670048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2800" dirty="0"/>
          </a:p>
        </p:txBody>
      </p:sp>
      <p:sp>
        <p:nvSpPr>
          <p:cNvPr id="28" name="Text 26"/>
          <p:cNvSpPr txBox="1"/>
          <p:nvPr/>
        </p:nvSpPr>
        <p:spPr>
          <a:xfrm>
            <a:off x="2670048" y="2514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verifications in a fresh context, in a git worktree pinned to the task's commit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63440" y="201168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73168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800" dirty="0"/>
          </a:p>
        </p:txBody>
      </p:sp>
      <p:sp>
        <p:nvSpPr>
          <p:cNvPr id="31" name="Text 29"/>
          <p:cNvSpPr txBox="1"/>
          <p:nvPr/>
        </p:nvSpPr>
        <p:spPr>
          <a:xfrm>
            <a:off x="4773168" y="2514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reviews; every HIGH closed by a fix pack and a fresh re-review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766560" y="201168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76288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2800" dirty="0"/>
          </a:p>
        </p:txBody>
      </p:sp>
      <p:sp>
        <p:nvSpPr>
          <p:cNvPr id="34" name="Text 32"/>
          <p:cNvSpPr txBox="1"/>
          <p:nvPr/>
        </p:nvSpPr>
        <p:spPr>
          <a:xfrm>
            <a:off x="6876288" y="2514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 evidence-ledger entries; chain verified at export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" y="3337560"/>
            <a:ext cx="4023360" cy="1143000"/>
          </a:xfrm>
          <a:prstGeom prst="roundRect">
            <a:avLst>
              <a:gd name="adj" fmla="val 48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33924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duties, by construction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3648456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model for design, threat model, contracts and orchestration; Sonnet-class agents for every implementation, verification and security review. The implementer never verifies; the verifier never edits; no agent writes an approver's name.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3337560"/>
            <a:ext cx="4023360" cy="1143000"/>
          </a:xfrm>
          <a:prstGeom prst="roundRect">
            <a:avLst>
              <a:gd name="adj" fmla="val 48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754880" y="33924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validates everything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754880" y="3648456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 · mypy strict (host and Linux) · pytest with ≥ 80 % coverage · secrets scan · offline eval bench · drift checks. CI runs the same command on every push; the network is never touched.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READINESS · MEASUREMENT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metrics from the gate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Fathom · AI Systems Architecture Review · 20</a:t>
            </a:r>
            <a:endParaRPr lang="en-US" sz="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47548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188720"/>
          <a:ext cx="32918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143000"/>
                <a:gridCol w="731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/ coverage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458 passed (2 network tests skipped offline) / 95.8 %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80 %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 escapes (30 adversarial phrases)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 false positives (12 benign)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 only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briefing latency, median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 ms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5 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cold fetch (NFLX, COST)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2–3 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30 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size per briefing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27 k tokens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40 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briefing latency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from the audit log on the day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90 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hit-rate is below its 0.9 aspiration and is shown as informational rather than edited to pass; title boosting raised it from 0.74 to 0.78 and the ranker is one function to replace.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Quirks and known limitations (stated, not hidden)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Fathom · AI Systems Architecture Review · 21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69080" cy="749808"/>
          </a:xfrm>
          <a:prstGeom prst="roundRect">
            <a:avLst>
              <a:gd name="adj" fmla="val 731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4358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 proves plumbing, not prose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9961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100 % verified share is by construction; on live text it can leave a section empty (Netflix MD&amp;A opens with tables). The LLM path composes those sections.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69080" cy="749808"/>
          </a:xfrm>
          <a:prstGeom prst="roundRect">
            <a:avLst>
              <a:gd name="adj" fmla="val 731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0" y="124358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XBRL-derived ratios are approximations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149961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TTM sums quarterly XBRL frames and is not split-adjusted: Netflix shows P/E 8.98 after its stock split. Labelled as derived; a vendor feed would replace it in a pilot.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4069080" cy="749808"/>
          </a:xfrm>
          <a:prstGeom prst="roundRect">
            <a:avLst>
              <a:gd name="adj" fmla="val 731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06654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Unofficial price endpoints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32257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Yahoo's chart API and Stooq CSV are keyless but unofficial; Stooq intermittently serves a bot-challenge page. Fixture mode is the demo default for that reason.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63440" y="2011680"/>
            <a:ext cx="4069080" cy="749808"/>
          </a:xfrm>
          <a:prstGeom prst="roundRect">
            <a:avLst>
              <a:gd name="adj" fmla="val 731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206654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hit-rate 0.78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232257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ranking misses some golden queries; the KPI is informational and the ranker is swappable.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4069080" cy="749808"/>
          </a:xfrm>
          <a:prstGeom prst="roundRect">
            <a:avLst>
              <a:gd name="adj" fmla="val 731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288950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Cross-reference-sheet 10-Ks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14553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McDonald's-style filings need a heading fallback; two sub-sections still over- or under-run slightly (backlog).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63440" y="2834640"/>
            <a:ext cx="4069080" cy="749808"/>
          </a:xfrm>
          <a:prstGeom prst="roundRect">
            <a:avLst>
              <a:gd name="adj" fmla="val 731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54880" y="288950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authentication, local audit file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314553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Single-user prototype: SSO in front of the API and a tamper-evident audit sink are pilot work, listed in the ORR.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4069080" cy="749808"/>
          </a:xfrm>
          <a:prstGeom prst="roundRect">
            <a:avLst>
              <a:gd name="adj" fmla="val 731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71246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card timestamp churn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96849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gate run rewrites the rendered card's timestamp; harmless, noted for the next build.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63440" y="3657600"/>
            <a:ext cx="4069080" cy="749808"/>
          </a:xfrm>
          <a:prstGeom prst="roundRect">
            <a:avLst>
              <a:gd name="adj" fmla="val 731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54880" y="371246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scans claim text, not quotes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396849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are never rendered, so the exposure is nil today; noted as LOW.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READINESS · OPERATIONS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Cost, performance and operability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Fathom · AI Systems Architecture Review · 22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234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call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70992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briefing or question; prompt capped by section character limits (≈ 27 k tokens)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60320" y="118872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70048" y="1234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 ms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670048" y="170992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offline briefing; live ≈ 60–90 s dominated by the model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73168" y="1234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2–3 s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773168" y="170992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live fetch per ticker (five documents, four facts, one chart); warm reads &lt; 1 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766560" y="118872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76288" y="1234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keys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876288" y="170992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for the demo or for live data; the AI gateway key is injected at runtime only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2606040"/>
            <a:ext cx="4023360" cy="1828800"/>
          </a:xfrm>
          <a:prstGeom prst="roundRect">
            <a:avLst>
              <a:gd name="adj" fmla="val 30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26609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Operability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916936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Runbook with start/stop, modes, common failures and fallbacks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Demo checklist with a fallback line for every failure mode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Operational readiness review and change records for 0.1.0 and 0.2.0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`fathom probe` checks the gateway; `fathom fetch` pre-warms live data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Rollback is an environment variable (offline / fixture) or a git tag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2606040"/>
            <a:ext cx="4023360" cy="1828800"/>
          </a:xfrm>
          <a:prstGeom prst="roundRect">
            <a:avLst>
              <a:gd name="adj" fmla="val 30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54880" y="26609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and audit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2916936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Structured INFO logs: provider, model, latency, claim counts — never bodies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JSONL per call with sha256 of prompt and response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Alert candidates named for a pilot: verified share &lt; 0.7/day, guard hits &gt; 0, provider error rate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Manifest per live ticker records URLs, accessions and fetched-at for provenance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to a pilot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Fathom · AI Systems Architecture Review · 23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65960" cy="3200400"/>
          </a:xfrm>
          <a:prstGeom prst="roundRect">
            <a:avLst>
              <a:gd name="adj" fmla="val 2791"/>
            </a:avLst>
          </a:prstGeom>
          <a:solidFill>
            <a:srgbClr val="EEF6F4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2435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481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 data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874520"/>
            <a:ext cx="1737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or licensed quote feed behind the existing price interface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Split-adjusted fundamentals; XBRL only as fallback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EDGAR universe with nightly pre-warm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188720"/>
            <a:ext cx="1965960" cy="3200400"/>
          </a:xfrm>
          <a:prstGeom prst="roundRect">
            <a:avLst>
              <a:gd name="adj" fmla="val 2791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70048" y="12435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2670048" y="1481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and host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70048" y="1874520"/>
            <a:ext cx="1737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in front of the API and page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audit sink (hash chain or append-only store)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from the platform vault; SBOM in CI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1965960" cy="3200400"/>
          </a:xfrm>
          <a:prstGeom prst="roundRect">
            <a:avLst>
              <a:gd name="adj" fmla="val 2791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73168" y="12435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5–6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773168" y="1481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73168" y="1874520"/>
            <a:ext cx="1737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eval set built with the compliance team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verified-share and guard dashboards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or hybrid ranker if the hit-rate target is confirmed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66560" y="1188720"/>
            <a:ext cx="1965960" cy="3200400"/>
          </a:xfrm>
          <a:prstGeom prst="roundRect">
            <a:avLst>
              <a:gd name="adj" fmla="val 2791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76288" y="12435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7+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876288" y="1481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1874520"/>
            <a:ext cx="1737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routing through the gateway (cost tiers)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briefings for watchlists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record and ORR sign-off for production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above is additive: the contracts, the verifier, the guard and the audit record do not change.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A — Decision log (abridged)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Fathom · AI Systems Architecture Review · 24</a:t>
            </a:r>
            <a:endParaRPr lang="en-US" sz="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20624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Consequence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D-002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data from four Hugging Face datasets, committed as fixtures with licences and anchors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Deterministic, offline demo; refresh is one script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D-003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Grounding by verbatim citation, not by trust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claim contract; verifier; badges; verified-share KPI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D-004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 over SEC items, no vector database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infrastructure; explainable; one function to replace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D-005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Providers speak one JSON contract; offline is a real provider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code path; CI and demo never need a key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D-006 / D-009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Parser heading fallback for cross-reference-sheet 10-Ks (tightened after a failed attempt)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McDonald's briefing restored; invariant for all other filings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D-007 / D-010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 conversion never raises; transport errors are Fathom errors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security finding and a resilience gap closed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D-008 / D-011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Title-boosted retrieval; API binds loopback; demo polish heuristics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Honest KPI; safer default; readable offline briefing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D-013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mode materializes the fixture schema from SEC EDGAR + Yahoo/Stooq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US ticker; downstream untouched; new trust boundary B6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D-014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Typed payload accessors and structural fuzz as acceptance criteria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a class of parsing crashes found across four security rounds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B — Build statistics and lessons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Fathom · AI Systems Architecture Review · 25</a:t>
            </a:r>
            <a:endParaRPr lang="en-US" sz="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56032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v0.1.0 (fixtures)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v0.2.0 (live data)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packs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(T-000 … T-017)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(T-018 … T-024)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Implementer attempts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Verifier runs (fresh context, pinned worktree)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reviews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(four rounds on payload parsing)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bugs caught by independent roles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(deps extras, fallback bodies, null completion, stale figures, bind 0.0.0.0)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(ticker routing, path build before validation, four parsing classes)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Ledger entries / gates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/ G0–G8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/ G1–G4 re-entry, G6.4, G7, G8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/ coverage at ship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287 / 96.0 %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458 / 95.8 %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246120"/>
            <a:ext cx="8229600" cy="1234440"/>
          </a:xfrm>
          <a:prstGeom prst="roundRect">
            <a:avLst>
              <a:gd name="adj" fmla="val 444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330098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written into the decision log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557016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Specs that touch unstructured text need a content-level acceptance test before dispatch (the parser fallback took two attempts).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Documentation packs run last, once, after all code tasks (figures moved three times).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 third-party payloads, specify typed accessors, whole-body guards and structural fuzzing up front; enumerating failure modes leaks.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Verifiers occasionally write into the worktree copy; the orchestrator names the live path and copies before removal.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C — Repository map and how to run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Fathom · AI Systems Architecture Review · 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5120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fathom/         core: config, errors, data, quotes, filings, retrieval,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prompts, providers, contracts, guard, audit, briefing,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ask, bench, cli, api, mcp_server, live/*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            Streamlit page + rendering helpers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           fixtures (parquet) + SOURCES.md (licences, anchors)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          458 tests; recorded live fixtures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metrics/        headline.json, card.json/md, render.py (drift-checked)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docs/design/    brief, requirements, HLD, threat model, LLD,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plan, live-data amendment, decisions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docs/tasks/     25 packs with verdict and security files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docs/evidence/  hash-chained ledger + exported evidence pack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docs/ops/       runbook, ORR, change records, demo checklist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docs/pitch/     one-slide pitch and this deck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760720" y="1188720"/>
            <a:ext cx="2926080" cy="3246120"/>
          </a:xfrm>
          <a:prstGeom prst="roundRect">
            <a:avLst>
              <a:gd name="adj" fmla="val 1875"/>
            </a:avLst>
          </a:prstGeom>
          <a:solidFill>
            <a:srgbClr val="1C2B4F"/>
          </a:solidFill>
          <a:ln w="9525">
            <a:solidFill>
              <a:srgbClr val="1C2B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97880" y="1261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897880" y="1572768"/>
            <a:ext cx="27432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sync --all-extras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python scripts/check.py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fathom app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live data, no keys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FATHOM_DATA_SOURCE=live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FATHOM_SEC_CONTACT=you@firm.com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fathom fetch NFLX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fathom brief NFLX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live model via the gateway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FATHOM_LLM_PROVIDER=portkey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PORTKEY_API_KEY=…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fathom probe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06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Fathom · roshanrana/fathom · release 0.2.0 · design docs, evidence ledger and runbook in the repository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Fathom — AI Systems Architecture Review</dc:title>
  <dc:subject>PptxGenJS Presentation</dc:subject>
  <dc:creator>Roshan Rana</dc:creator>
  <cp:lastModifiedBy>Roshan Rana</cp:lastModifiedBy>
  <cp:revision>1</cp:revision>
  <dcterms:created xsi:type="dcterms:W3CDTF">2026-09-12T22:29:02Z</dcterms:created>
  <dcterms:modified xsi:type="dcterms:W3CDTF">2026-09-12T22:29:02Z</dcterms:modified>
</cp:coreProperties>
</file>